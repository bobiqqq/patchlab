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9"/>
  </p:notesMasterIdLst>
  <p:handoutMasterIdLst>
    <p:handoutMasterId r:id="rId10"/>
  </p:handoutMasterIdLst>
  <p:sldIdLst>
    <p:sldId id="257" r:id="rId2"/>
    <p:sldId id="258" r:id="rId3"/>
    <p:sldId id="259" r:id="rId4"/>
    <p:sldId id="261" r:id="rId5"/>
    <p:sldId id="264" r:id="rId6"/>
    <p:sldId id="262" r:id="rId7"/>
    <p:sldId id="265" r:id="rId8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95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9F2607F-EAB8-462D-9596-B11A1C51125F}" type="datetime1">
              <a:rPr lang="ru-RU" smtClean="0"/>
              <a:t>13.05.2026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75D426-A9DD-4244-A2CE-1FB662374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844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50EC31D-9C0F-4EDB-9AC9-93AE84D7514D}" type="datetime1">
              <a:rPr lang="ru-RU" smtClean="0"/>
              <a:t>13.05.2026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"/>
              <a:t>Щелкните, чтобы изменить стили текста образца слайда</a:t>
            </a:r>
            <a:endParaRPr lang="en-US"/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  <a:endParaRPr lang="en-US"/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B41D33-19C8-4450-B3C5-BE83E9C8F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5525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 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Подзаголовок 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948E6C3-8E12-426B-A56F-861F8B162AC6}" type="datetime1">
              <a:rPr lang="ru-RU" smtClean="0"/>
              <a:t>13.05.2026</a:t>
            </a:fld>
            <a:endParaRPr lang="en-US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Номер слайда 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E13CF11-4D7C-4367-8D00-578223D03103}" type="datetime1">
              <a:rPr lang="ru-RU" smtClean="0"/>
              <a:t>13.05.2026</a:t>
            </a:fld>
            <a:endParaRPr lang="en-US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Номер слайда 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540FCE8-CB6C-4798-845F-C8260D76B307}" type="datetime1">
              <a:rPr lang="ru-RU" smtClean="0"/>
              <a:t>13.05.2026</a:t>
            </a:fld>
            <a:endParaRPr lang="en-US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Номер слайда 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 rtlCol="0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 rtlCol="0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3C13A7E-4C64-47B0-B355-B165BE4012BA}" type="datetime1">
              <a:rPr lang="ru-RU" smtClean="0"/>
              <a:t>13.05.2026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 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rtlCol="0"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31CA3B4-5CE4-4976-BBFE-4E91C7258FC5}" type="datetime1">
              <a:rPr lang="ru-RU" smtClean="0"/>
              <a:t>13.05.2026</a:t>
            </a:fld>
            <a:endParaRPr lang="en-US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Номер слайда 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 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5316041-DA7D-4734-AA8C-761AB09393E2}" type="datetime1">
              <a:rPr lang="ru-RU" smtClean="0"/>
              <a:t>13.05.2026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692EF8B-D3DF-4216-96A1-1B1DE794B37A}" type="datetime1">
              <a:rPr lang="ru-RU" smtClean="0"/>
              <a:t>13.05.2026</a:t>
            </a:fld>
            <a:endParaRPr lang="en-US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Номер слайда 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 rtlCol="0"/>
          <a:lstStyle/>
          <a:p>
            <a:pPr rtl="0"/>
            <a:fld id="{09563768-3096-48CB-A41A-8D454362CCAD}" type="datetime1">
              <a:rPr lang="ru-RU" smtClean="0"/>
              <a:t>13.05.2026</a:t>
            </a:fld>
            <a:endParaRPr lang="en-US" dirty="0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Рисунок 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30088EE-0E82-4198-BDFF-3B9755AA8919}" type="datetime1">
              <a:rPr lang="ru-RU" smtClean="0"/>
              <a:t>13.05.2026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 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D323C2A-FDF4-456A-A556-14045268B55D}" type="datetime1">
              <a:rPr lang="ru-RU" smtClean="0"/>
              <a:t>13.05.2026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Вертикальный заголовок 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rtlCol="0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rtlCol="0" anchor="t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Дата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BD5CFD7-CC7C-49C5-B221-A9E29F5846A0}" type="datetime1">
              <a:rPr lang="ru-RU" smtClean="0"/>
              <a:t>13.05.2026</a:t>
            </a:fld>
            <a:endParaRPr lang="en-US" dirty="0"/>
          </a:p>
        </p:txBody>
      </p:sp>
      <p:sp>
        <p:nvSpPr>
          <p:cNvPr id="12" name="Нижний колонтитул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ru"/>
              <a:t>Стиль образца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  <a:endParaRPr lang="en-US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C6B9E6FA-8E94-487D-81C3-7EE9BB2FD23D}" type="datetime1">
              <a:rPr lang="ru-RU" smtClean="0"/>
              <a:t>13.05.2026</a:t>
            </a:fld>
            <a:endParaRPr lang="en-US" dirty="0"/>
          </a:p>
        </p:txBody>
      </p:sp>
      <p:sp>
        <p:nvSpPr>
          <p:cNvPr id="5" name="Нижний колонтитул 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Прямоугольник 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1" name="Прямоугольник 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 rtlCol="0">
            <a:normAutofit/>
          </a:bodyPr>
          <a:lstStyle/>
          <a:p>
            <a:pPr rtl="0"/>
            <a:r>
              <a:rPr lang="en-US" dirty="0" err="1"/>
              <a:t>Patchlab</a:t>
            </a:r>
            <a:r>
              <a:rPr lang="en-US" dirty="0"/>
              <a:t>: patching laboratory</a:t>
            </a:r>
            <a:endParaRPr lang="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468233"/>
          </a:xfrm>
        </p:spPr>
        <p:txBody>
          <a:bodyPr rtlCol="0">
            <a:normAutofit/>
          </a:bodyPr>
          <a:lstStyle/>
          <a:p>
            <a:r>
              <a:rPr lang="en-US" dirty="0" err="1"/>
              <a:t>Firstova</a:t>
            </a:r>
            <a:r>
              <a:rPr lang="en-US" dirty="0"/>
              <a:t> </a:t>
            </a:r>
            <a:r>
              <a:rPr lang="en-US" dirty="0" err="1"/>
              <a:t>varya</a:t>
            </a:r>
            <a:r>
              <a:rPr lang="en-US" dirty="0"/>
              <a:t>, </a:t>
            </a:r>
            <a:r>
              <a:rPr lang="en-US" dirty="0" err="1"/>
              <a:t>kuzmin</a:t>
            </a:r>
            <a:r>
              <a:rPr lang="ru-RU" dirty="0"/>
              <a:t> </a:t>
            </a:r>
            <a:r>
              <a:rPr lang="en-US" dirty="0" err="1"/>
              <a:t>nikita</a:t>
            </a:r>
            <a:endParaRPr lang="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2" name="Прямоугольник 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pic>
        <p:nvPicPr>
          <p:cNvPr id="4" name="Рисунок 3" descr="Пин от пользователя БАЛАЛАЮШКО на доске Ваши пины | Веселые мемы, Смешные  мемы, Мемы">
            <a:extLst>
              <a:ext uri="{FF2B5EF4-FFF2-40B4-BE49-F238E27FC236}">
                <a16:creationId xmlns:a16="http://schemas.microsoft.com/office/drawing/2014/main" id="{F91A934F-2D56-2FA7-42DD-57CBABD50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378" y="2565629"/>
            <a:ext cx="3645567" cy="3635647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644A72B-B522-B7B9-8B53-E3AD618FE089}"/>
              </a:ext>
            </a:extLst>
          </p:cNvPr>
          <p:cNvSpPr/>
          <p:nvPr/>
        </p:nvSpPr>
        <p:spPr>
          <a:xfrm>
            <a:off x="8042146" y="2638369"/>
            <a:ext cx="1013621" cy="37087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/>
              <a:t>Ничего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179F0A8-89B7-7360-61F4-C587D947A8A4}"/>
              </a:ext>
            </a:extLst>
          </p:cNvPr>
          <p:cNvSpPr/>
          <p:nvPr/>
        </p:nvSpPr>
        <p:spPr>
          <a:xfrm>
            <a:off x="10164678" y="5751095"/>
            <a:ext cx="1090863" cy="32084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𓆝 𓆟  </a:t>
            </a:r>
          </a:p>
        </p:txBody>
      </p:sp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382D18-2A6A-E684-3B63-FC3C7D5C4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/>
              <a:t>Цель и задачи ☕︎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50D259-3368-AE04-8E2C-9F123CDF0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890876"/>
            <a:ext cx="11029615" cy="39222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/>
              <a:t>Создание веб-платформы, для отработки навыков устранения уязвимостей в коде без риска для реальных систем.</a:t>
            </a:r>
          </a:p>
          <a:p>
            <a:pPr marL="0" indent="0">
              <a:buNone/>
            </a:pPr>
            <a:r>
              <a:rPr lang="ru-RU" sz="2000" b="1" dirty="0"/>
              <a:t>Задачи:</a:t>
            </a:r>
          </a:p>
          <a:p>
            <a:r>
              <a:rPr lang="ru-RU" sz="2000" dirty="0"/>
              <a:t>Создание веб сайта</a:t>
            </a:r>
          </a:p>
          <a:p>
            <a:r>
              <a:rPr lang="ru-RU" sz="2000" dirty="0"/>
              <a:t>Сортировка задач по уровню сложности и категориям</a:t>
            </a:r>
          </a:p>
          <a:p>
            <a:r>
              <a:rPr lang="ru-RU" sz="2000" dirty="0"/>
              <a:t>Размещение задач на </a:t>
            </a:r>
            <a:r>
              <a:rPr lang="ru-RU" sz="2000" dirty="0" err="1"/>
              <a:t>патчинг</a:t>
            </a:r>
            <a:r>
              <a:rPr lang="ru-RU" sz="2000" dirty="0"/>
              <a:t> кода</a:t>
            </a:r>
          </a:p>
          <a:p>
            <a:r>
              <a:rPr lang="ru-RU" sz="2000" dirty="0"/>
              <a:t>Создание понятного и удобного интерфейса для пользователей</a:t>
            </a:r>
          </a:p>
          <a:p>
            <a:endParaRPr lang="ru-RU" sz="2000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D3BB166-FFC6-C7D5-7056-B0EF9D4A7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13.05.2026</a:t>
            </a:fld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0BCBCD6-C955-C756-C8F6-E460E901A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8350" y="6045985"/>
            <a:ext cx="2953162" cy="74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148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EABCC0-C979-BAE2-524E-CEDD80F43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5831183" cy="540730"/>
          </a:xfrm>
        </p:spPr>
        <p:txBody>
          <a:bodyPr>
            <a:normAutofit fontScale="90000"/>
          </a:bodyPr>
          <a:lstStyle/>
          <a:p>
            <a:r>
              <a:rPr lang="ru-RU" sz="3200" b="1" dirty="0"/>
              <a:t>Структура 🗐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3FFD1F-9E72-5FB0-C986-2C7E18BD1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13.05.2026</a:t>
            </a:fld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9389233-43BE-B89F-2F79-7AE788A0A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8350" y="6045985"/>
            <a:ext cx="2953162" cy="7430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66713B-45EE-DCBB-FB6D-FF7079C02358}"/>
              </a:ext>
            </a:extLst>
          </p:cNvPr>
          <p:cNvSpPr txBox="1"/>
          <p:nvPr/>
        </p:nvSpPr>
        <p:spPr>
          <a:xfrm>
            <a:off x="1797012" y="1342545"/>
            <a:ext cx="17652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 err="1"/>
              <a:t>A</a:t>
            </a:r>
            <a:r>
              <a:rPr lang="en-US" sz="2800" dirty="0"/>
              <a:t>PI</a:t>
            </a:r>
            <a:r>
              <a:rPr lang="ru-RU" sz="2800" dirty="0"/>
              <a:t>-</a:t>
            </a:r>
            <a:r>
              <a:rPr lang="ru-RU" sz="2800" dirty="0" err="1"/>
              <a:t>роуты</a:t>
            </a:r>
            <a:endParaRPr lang="ru-RU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4C77AF-DA00-09F8-455E-A3284FE6401C}"/>
              </a:ext>
            </a:extLst>
          </p:cNvPr>
          <p:cNvSpPr txBox="1"/>
          <p:nvPr/>
        </p:nvSpPr>
        <p:spPr>
          <a:xfrm>
            <a:off x="335753" y="2062416"/>
            <a:ext cx="4687747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000" dirty="0"/>
              <a:t>/register, /login, /logout — </a:t>
            </a:r>
            <a:r>
              <a:rPr lang="ru-RU" sz="2000" dirty="0"/>
              <a:t>авторизация.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/</a:t>
            </a:r>
            <a:r>
              <a:rPr lang="en" sz="2000" dirty="0"/>
              <a:t>dashboard — </a:t>
            </a:r>
            <a:r>
              <a:rPr lang="ru-RU" sz="2000" dirty="0"/>
              <a:t>список задач и история попыток.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/</a:t>
            </a:r>
            <a:r>
              <a:rPr lang="en" sz="2000" dirty="0"/>
              <a:t>tasks/&lt;task&gt; — </a:t>
            </a:r>
            <a:r>
              <a:rPr lang="ru-RU" sz="2000" dirty="0"/>
              <a:t>страница задачи и загрузка патча.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/</a:t>
            </a:r>
            <a:r>
              <a:rPr lang="en" sz="2000" dirty="0"/>
              <a:t>tasks/&lt;task&gt;/source — </a:t>
            </a:r>
            <a:r>
              <a:rPr lang="ru-RU" sz="2000" dirty="0"/>
              <a:t>скачивание </a:t>
            </a:r>
            <a:r>
              <a:rPr lang="en" sz="2000" dirty="0" err="1"/>
              <a:t>vuln.py</a:t>
            </a:r>
            <a:r>
              <a:rPr lang="en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000" dirty="0"/>
              <a:t>GET /</a:t>
            </a:r>
            <a:r>
              <a:rPr lang="en" sz="2000" dirty="0" err="1"/>
              <a:t>api</a:t>
            </a:r>
            <a:r>
              <a:rPr lang="en" sz="2000" dirty="0"/>
              <a:t>/tasks — </a:t>
            </a:r>
            <a:r>
              <a:rPr lang="ru-RU" sz="2000" dirty="0"/>
              <a:t>список активных задач.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000" dirty="0"/>
              <a:t>POST /</a:t>
            </a:r>
            <a:r>
              <a:rPr lang="en" sz="2000" dirty="0" err="1"/>
              <a:t>api</a:t>
            </a:r>
            <a:r>
              <a:rPr lang="en" sz="2000" dirty="0"/>
              <a:t>/tasks/&lt;task&gt;/check — </a:t>
            </a:r>
            <a:r>
              <a:rPr lang="ru-RU" sz="2000" dirty="0"/>
              <a:t>проверка загруженного патча.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FCC00D-D18B-7FD2-8A73-934FDD470E45}"/>
              </a:ext>
            </a:extLst>
          </p:cNvPr>
          <p:cNvSpPr txBox="1"/>
          <p:nvPr/>
        </p:nvSpPr>
        <p:spPr>
          <a:xfrm>
            <a:off x="7606166" y="1359205"/>
            <a:ext cx="14221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Модели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BFD651-B7A4-0D63-5001-E3A2123827C5}"/>
              </a:ext>
            </a:extLst>
          </p:cNvPr>
          <p:cNvSpPr txBox="1"/>
          <p:nvPr/>
        </p:nvSpPr>
        <p:spPr>
          <a:xfrm>
            <a:off x="6144907" y="2079076"/>
            <a:ext cx="468774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000" dirty="0"/>
              <a:t>User — </a:t>
            </a:r>
            <a:r>
              <a:rPr lang="ru-RU" sz="2000" dirty="0"/>
              <a:t>пользователь, </a:t>
            </a:r>
            <a:r>
              <a:rPr lang="en" sz="2000" dirty="0"/>
              <a:t>hash </a:t>
            </a:r>
            <a:r>
              <a:rPr lang="ru-RU" sz="2000" dirty="0"/>
              <a:t>пароля, дата регистрации.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000" dirty="0"/>
              <a:t>Task — </a:t>
            </a:r>
            <a:r>
              <a:rPr lang="ru-RU" sz="2000" dirty="0"/>
              <a:t>описание задачи, сложность, вес, путь к исходнику.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000" dirty="0"/>
              <a:t>Patch — </a:t>
            </a:r>
            <a:r>
              <a:rPr lang="ru-RU" sz="2000" dirty="0"/>
              <a:t>попытка пользователя: файл, статус, очки, вывод </a:t>
            </a:r>
            <a:r>
              <a:rPr lang="en" sz="2000" dirty="0"/>
              <a:t>checker-</a:t>
            </a:r>
            <a:r>
              <a:rPr lang="ru-RU" sz="2000" dirty="0"/>
              <a:t>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231604-6F36-9380-6305-792463A6BFA9}"/>
              </a:ext>
            </a:extLst>
          </p:cNvPr>
          <p:cNvSpPr txBox="1"/>
          <p:nvPr/>
        </p:nvSpPr>
        <p:spPr>
          <a:xfrm>
            <a:off x="7606166" y="4322441"/>
            <a:ext cx="14986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Задание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0D364B-9898-EC06-73C1-2796E75AB6B6}"/>
              </a:ext>
            </a:extLst>
          </p:cNvPr>
          <p:cNvSpPr txBox="1"/>
          <p:nvPr/>
        </p:nvSpPr>
        <p:spPr>
          <a:xfrm>
            <a:off x="5973384" y="4802032"/>
            <a:ext cx="46877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info.json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vuln.py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checker.py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977245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BEAD7-2101-E43A-565D-5E6F653CE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7F6CB5-AF0A-C238-9702-E2281C61A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80989"/>
            <a:ext cx="11029616" cy="1188720"/>
          </a:xfrm>
        </p:spPr>
        <p:txBody>
          <a:bodyPr>
            <a:normAutofit/>
          </a:bodyPr>
          <a:lstStyle/>
          <a:p>
            <a:r>
              <a:rPr lang="ru-RU" sz="3200" b="1" dirty="0"/>
              <a:t>Особенности веб-платформы</a:t>
            </a:r>
            <a:r>
              <a:rPr lang="en-US" sz="3200" b="1" dirty="0"/>
              <a:t> &lt;/&gt;</a:t>
            </a:r>
            <a:endParaRPr lang="ru-RU" sz="32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2751DF-8043-3714-D825-2CA87E986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953391"/>
            <a:ext cx="11029615" cy="3634486"/>
          </a:xfrm>
        </p:spPr>
        <p:txBody>
          <a:bodyPr/>
          <a:lstStyle/>
          <a:p>
            <a:r>
              <a:rPr lang="ru-RU" dirty="0"/>
              <a:t>Первая веб-платформа, позволяющая учиться</a:t>
            </a:r>
            <a:r>
              <a:rPr lang="en-US" dirty="0"/>
              <a:t> </a:t>
            </a:r>
            <a:r>
              <a:rPr lang="ru-RU" dirty="0" err="1"/>
              <a:t>патчингу</a:t>
            </a:r>
            <a:r>
              <a:rPr lang="ru-RU" dirty="0"/>
              <a:t> кода</a:t>
            </a:r>
          </a:p>
          <a:p>
            <a:r>
              <a:rPr lang="ru-RU" dirty="0"/>
              <a:t>Минималистичный дизайн и интуитивно понятный интерфейс</a:t>
            </a:r>
          </a:p>
          <a:p>
            <a:r>
              <a:rPr lang="ru-RU" dirty="0"/>
              <a:t>Различные категории задач, сортируемые по уровню сложности</a:t>
            </a:r>
            <a:endParaRPr lang="en-US" dirty="0"/>
          </a:p>
          <a:p>
            <a:r>
              <a:rPr lang="ru-RU" dirty="0"/>
              <a:t>Система подсчёта очков  и хранение результатов в профиле пользователей</a:t>
            </a:r>
          </a:p>
          <a:p>
            <a:r>
              <a:rPr lang="ru-RU" dirty="0"/>
              <a:t>Автоматическая проверка решения задач</a:t>
            </a:r>
          </a:p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7005D40-5164-FE89-0269-BD3C7321E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4498" y="5948760"/>
            <a:ext cx="2953162" cy="743054"/>
          </a:xfrm>
          <a:prstGeom prst="rect">
            <a:avLst/>
          </a:prstGeom>
        </p:spPr>
      </p:pic>
      <p:pic>
        <p:nvPicPr>
          <p:cNvPr id="10" name="Рисунок 9" descr="F&amp;O FABFORGOTTENNOBILITY | Optical illusions, Illusions, Illusion art">
            <a:extLst>
              <a:ext uri="{FF2B5EF4-FFF2-40B4-BE49-F238E27FC236}">
                <a16:creationId xmlns:a16="http://schemas.microsoft.com/office/drawing/2014/main" id="{FE7B11DA-8CD9-307F-8A1F-C9D819C11F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8610" y="2130592"/>
            <a:ext cx="3014913" cy="301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751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89D3C-5DB8-DDE5-F08A-BCF561288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3A276E-018C-5F8F-DE51-4AEC16B76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398" y="358627"/>
            <a:ext cx="11029616" cy="1188720"/>
          </a:xfrm>
        </p:spPr>
        <p:txBody>
          <a:bodyPr>
            <a:normAutofit/>
          </a:bodyPr>
          <a:lstStyle/>
          <a:p>
            <a:r>
              <a:rPr lang="ru-RU" sz="3200" b="1" dirty="0"/>
              <a:t>Практика </a:t>
            </a:r>
            <a:r>
              <a:rPr lang="th-TH" sz="3200" b="1" dirty="0"/>
              <a:t>(ง •̀_•́)ง</a:t>
            </a:r>
            <a:endParaRPr lang="ru-RU" sz="3200" b="1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B1CB35-CE3F-1280-CF2F-109636AC1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13.05.2026</a:t>
            </a:fld>
            <a:endParaRPr lang="en-US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AF40E3D-5328-0A32-5AE7-C8943A4C8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8350" y="6045985"/>
            <a:ext cx="2953162" cy="74305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D81A842-AAB2-DC09-1E80-D347139004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219" y="1547347"/>
            <a:ext cx="5064347" cy="230370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8C41CEC-C546-4E3E-7962-079ACA01A5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294" y="709366"/>
            <a:ext cx="4852088" cy="433040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70F6A0B-1154-405F-2E74-915035C408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803" y="4058255"/>
            <a:ext cx="3806141" cy="233107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5CEFB25-B18A-5080-7DDD-2F36CB11F2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3144" y="5395664"/>
            <a:ext cx="6456947" cy="713582"/>
          </a:xfrm>
          <a:prstGeom prst="rect">
            <a:avLst/>
          </a:prstGeom>
        </p:spPr>
      </p:pic>
      <p:cxnSp>
        <p:nvCxnSpPr>
          <p:cNvPr id="15" name="Соединитель: уступ 14">
            <a:extLst>
              <a:ext uri="{FF2B5EF4-FFF2-40B4-BE49-F238E27FC236}">
                <a16:creationId xmlns:a16="http://schemas.microsoft.com/office/drawing/2014/main" id="{9DA0F6DA-5642-E815-2C4C-BB2CFBA86E61}"/>
              </a:ext>
            </a:extLst>
          </p:cNvPr>
          <p:cNvCxnSpPr>
            <a:stCxn id="7" idx="3"/>
          </p:cNvCxnSpPr>
          <p:nvPr/>
        </p:nvCxnSpPr>
        <p:spPr>
          <a:xfrm flipV="1">
            <a:off x="5436566" y="2699200"/>
            <a:ext cx="827876" cy="1"/>
          </a:xfrm>
          <a:prstGeom prst="bentConnector3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Соединитель: изогнутый 16">
            <a:extLst>
              <a:ext uri="{FF2B5EF4-FFF2-40B4-BE49-F238E27FC236}">
                <a16:creationId xmlns:a16="http://schemas.microsoft.com/office/drawing/2014/main" id="{B1D51C2D-5861-DBEF-344E-31F57B67005D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rot="5400000" flipH="1">
            <a:off x="5095846" y="1501283"/>
            <a:ext cx="981519" cy="6095464"/>
          </a:xfrm>
          <a:prstGeom prst="curvedConnector5">
            <a:avLst>
              <a:gd name="adj1" fmla="val -23290"/>
              <a:gd name="adj2" fmla="val 54290"/>
              <a:gd name="adj3" fmla="val 123290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Соединитель: изогнутый 18">
            <a:extLst>
              <a:ext uri="{FF2B5EF4-FFF2-40B4-BE49-F238E27FC236}">
                <a16:creationId xmlns:a16="http://schemas.microsoft.com/office/drawing/2014/main" id="{DF695F8A-F694-39C3-5BD6-FBA825E6F3CB}"/>
              </a:ext>
            </a:extLst>
          </p:cNvPr>
          <p:cNvCxnSpPr>
            <a:stCxn id="11" idx="2"/>
            <a:endCxn id="13" idx="2"/>
          </p:cNvCxnSpPr>
          <p:nvPr/>
        </p:nvCxnSpPr>
        <p:spPr>
          <a:xfrm rot="5400000" flipH="1" flipV="1">
            <a:off x="5320206" y="3327914"/>
            <a:ext cx="280079" cy="5842744"/>
          </a:xfrm>
          <a:prstGeom prst="curvedConnector3">
            <a:avLst>
              <a:gd name="adj1" fmla="val -81620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0377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FA84A-F098-2C24-EC85-650D1CCFC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2D2D04-C923-57BD-F3AD-67F29B06E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/>
              <a:t>Ничто не идеально ⚙︎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EB0451-5BB0-A4B7-F2F4-457F785D0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51187"/>
            <a:ext cx="11029615" cy="3634486"/>
          </a:xfrm>
        </p:spPr>
        <p:txBody>
          <a:bodyPr/>
          <a:lstStyle/>
          <a:p>
            <a:r>
              <a:rPr lang="ru-RU" dirty="0"/>
              <a:t>Усиление безопасности</a:t>
            </a:r>
          </a:p>
          <a:p>
            <a:r>
              <a:rPr lang="ru-RU" dirty="0"/>
              <a:t>Функциональное развитие</a:t>
            </a:r>
          </a:p>
          <a:p>
            <a:r>
              <a:rPr lang="ru-RU" dirty="0"/>
              <a:t>Увеличение количества задач</a:t>
            </a:r>
          </a:p>
          <a:p>
            <a:r>
              <a:rPr lang="ru-RU" dirty="0"/>
              <a:t>Добавление специфичных разделов</a:t>
            </a:r>
          </a:p>
          <a:p>
            <a:r>
              <a:rPr lang="ru-RU" dirty="0"/>
              <a:t>Объединения с известными </a:t>
            </a:r>
            <a:r>
              <a:rPr lang="en-US" dirty="0"/>
              <a:t>CTF </a:t>
            </a:r>
            <a:r>
              <a:rPr lang="ru-RU" dirty="0"/>
              <a:t>платформами</a:t>
            </a:r>
          </a:p>
          <a:p>
            <a:r>
              <a:rPr lang="ru-RU" dirty="0"/>
              <a:t>Добавление рейтинговой таблицы</a:t>
            </a:r>
          </a:p>
          <a:p>
            <a:r>
              <a:rPr lang="ru-RU" dirty="0"/>
              <a:t>Поддержка других языков</a:t>
            </a:r>
            <a:br>
              <a:rPr lang="ru-RU" dirty="0"/>
            </a:b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0051EA-7B94-3F92-3A92-EB5A1860F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13.05.2026</a:t>
            </a:fld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6C98D5D-4787-2BA7-9B26-FA1BDACE4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8350" y="6045985"/>
            <a:ext cx="2953162" cy="743054"/>
          </a:xfrm>
          <a:prstGeom prst="rect">
            <a:avLst/>
          </a:prstGeom>
        </p:spPr>
      </p:pic>
      <p:pic>
        <p:nvPicPr>
          <p:cNvPr id="6" name="Рисунок 5" descr="Anime Girl Computer GIFs | Tenor">
            <a:extLst>
              <a:ext uri="{FF2B5EF4-FFF2-40B4-BE49-F238E27FC236}">
                <a16:creationId xmlns:a16="http://schemas.microsoft.com/office/drawing/2014/main" id="{FBC94665-329F-70FE-BEED-C1C9CFB714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375" y="2013284"/>
            <a:ext cx="4528887" cy="3396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844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E7EF621-E730-849F-2357-FAEEE2A13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581" y="6045985"/>
            <a:ext cx="2953162" cy="74305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DAA832-EBAC-D104-6B3F-EFF9EE184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253" y="68961"/>
            <a:ext cx="11029616" cy="1188720"/>
          </a:xfrm>
        </p:spPr>
        <p:txBody>
          <a:bodyPr/>
          <a:lstStyle/>
          <a:p>
            <a:pPr algn="ctr"/>
            <a:r>
              <a:rPr lang="ru-RU" dirty="0"/>
              <a:t>⋆.˚✮𝕋𝕙𝕒𝕟𝕜 𝕪𝕠𝕦✮˚.⋆</a:t>
            </a:r>
          </a:p>
        </p:txBody>
      </p:sp>
      <p:pic>
        <p:nvPicPr>
          <p:cNvPr id="5" name="Рисунок 4" descr="Мем Спасибо за внимание если есть вопросы -- загуглите №250267">
            <a:extLst>
              <a:ext uri="{FF2B5EF4-FFF2-40B4-BE49-F238E27FC236}">
                <a16:creationId xmlns:a16="http://schemas.microsoft.com/office/drawing/2014/main" id="{C6F78BAD-FCFA-8AAC-2ED4-56DE038EB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3248" y="1245097"/>
            <a:ext cx="642937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77373"/>
      </p:ext>
    </p:extLst>
  </p:cSld>
  <p:clrMapOvr>
    <a:masterClrMapping/>
  </p:clrMapOvr>
</p:sld>
</file>

<file path=ppt/theme/theme1.xml><?xml version="1.0" encoding="utf-8"?>
<a:theme xmlns:a="http://schemas.openxmlformats.org/drawingml/2006/main" name="Дивиденд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998_TF33552983" id="{160FF37C-0DDC-4D2E-AEAD-253EF6364DF1}" vid="{EC99DBC3-C858-4F3A-82DD-48D686A36DB8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{D30E4FF3-B3FA-40E0-ADE4-EC53C6FB4BEA}TF201209c3-d067-44f9-a26f-c8f216c44313c92a774a_win32-f353c8cd8117</Template>
  <TotalTime>117</TotalTime>
  <Words>260</Words>
  <Application>Microsoft Macintosh PowerPoint</Application>
  <PresentationFormat>Широкоэкранный</PresentationFormat>
  <Paragraphs>47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4" baseType="lpstr">
      <vt:lpstr>Arial</vt:lpstr>
      <vt:lpstr>Calibri</vt:lpstr>
      <vt:lpstr>Corbel</vt:lpstr>
      <vt:lpstr>Franklin Gothic Book</vt:lpstr>
      <vt:lpstr>Franklin Gothic Demi</vt:lpstr>
      <vt:lpstr>Wingdings 2</vt:lpstr>
      <vt:lpstr>ДивидендVTI</vt:lpstr>
      <vt:lpstr>Patchlab: patching laboratory</vt:lpstr>
      <vt:lpstr>Цель и задачи ☕︎</vt:lpstr>
      <vt:lpstr>Структура 🗐</vt:lpstr>
      <vt:lpstr>Особенности веб-платформы &lt;/&gt;</vt:lpstr>
      <vt:lpstr>Практика (ง •̀_•́)ง</vt:lpstr>
      <vt:lpstr>Ничто не идеально ⚙︎ </vt:lpstr>
      <vt:lpstr>⋆.˚✮𝕋𝕙𝕒𝕟𝕜 𝕪𝕠𝕦✮˚.⋆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Patchlab: patching laboratory</dc:title>
  <dc:creator>Varya F</dc:creator>
  <cp:lastModifiedBy>Никита Кузьмин</cp:lastModifiedBy>
  <cp:revision>4</cp:revision>
  <dcterms:created xsi:type="dcterms:W3CDTF">2026-05-13T13:44:43Z</dcterms:created>
  <dcterms:modified xsi:type="dcterms:W3CDTF">2026-05-13T15:54:49Z</dcterms:modified>
</cp:coreProperties>
</file>